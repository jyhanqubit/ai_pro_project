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거시 / MACRO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EVENT-AWARE URBAN MOBILITY · CITI BIKE / NYC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ShockFlow </a:t>
            </a:r>
            <a:pPr algn="l" indent="0" marL="0">
              <a:buNone/>
            </a:pPr>
            <a:r>
              <a:rPr lang="en-US" sz="40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시간정보가 붙은 event에서 수요 shock를 감지 → 추적 가능한 graph feature로 변환 → 예측에 준 model-attributed 영향(입증된 인과 아님)을 정량화 → 실행 가능한 rebalancing 조치로 연결.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1517904" cy="868680"/>
          </a:xfrm>
          <a:prstGeom prst="roundRect">
            <a:avLst>
              <a:gd name="adj" fmla="val 7368"/>
            </a:avLst>
          </a:prstGeom>
          <a:solidFill>
            <a:srgbClr val="1B274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1168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2064" y="223113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Bike 수요 이력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56816" y="1938528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93976" y="1938528"/>
            <a:ext cx="1517904" cy="868680"/>
          </a:xfrm>
          <a:prstGeom prst="roundRect">
            <a:avLst>
              <a:gd name="adj" fmla="val 7368"/>
            </a:avLst>
          </a:prstGeom>
          <a:solidFill>
            <a:srgbClr val="1B274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201168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48840" y="223113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news / event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93592" y="1938528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30752" y="1938528"/>
            <a:ext cx="1517904" cy="868680"/>
          </a:xfrm>
          <a:prstGeom prst="roundRect">
            <a:avLst>
              <a:gd name="adj" fmla="val 7368"/>
            </a:avLst>
          </a:prstGeom>
          <a:solidFill>
            <a:srgbClr val="1B2740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01168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85616" y="223113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재고 · GBFS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0368" y="1938528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67528" y="1938528"/>
            <a:ext cx="1517904" cy="868680"/>
          </a:xfrm>
          <a:prstGeom prst="roundRect">
            <a:avLst>
              <a:gd name="adj" fmla="val 7368"/>
            </a:avLst>
          </a:prstGeom>
          <a:solidFill>
            <a:srgbClr val="1B274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85816" y="201168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1·2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22392" y="223113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추출 → Neo4j graph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67144" y="1938528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04304" y="1938528"/>
            <a:ext cx="1517904" cy="868680"/>
          </a:xfrm>
          <a:prstGeom prst="roundRect">
            <a:avLst>
              <a:gd name="adj" fmla="val 7368"/>
            </a:avLst>
          </a:prstGeom>
          <a:solidFill>
            <a:srgbClr val="1B274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201168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59168" y="223113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graph feature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1938528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41080" y="1938528"/>
            <a:ext cx="1517904" cy="868680"/>
          </a:xfrm>
          <a:prstGeom prst="roundRect">
            <a:avLst>
              <a:gd name="adj" fmla="val 7368"/>
            </a:avLst>
          </a:prstGeom>
          <a:solidFill>
            <a:srgbClr val="1B2740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9368" y="201168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95944" y="223113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zone-hour forecast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40696" y="1938528"/>
            <a:ext cx="155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277856" y="1938528"/>
            <a:ext cx="1517904" cy="868680"/>
          </a:xfrm>
          <a:prstGeom prst="roundRect">
            <a:avLst>
              <a:gd name="adj" fmla="val 7368"/>
            </a:avLst>
          </a:prstGeom>
          <a:solidFill>
            <a:srgbClr val="1B2740"/>
          </a:solidFill>
          <a:ln w="12700">
            <a:solidFill>
              <a:srgbClr val="43C0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96144" y="201168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5·6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332720" y="2231136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설명·scenario → rebalancing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algn="l" indent="0" marL="0">
              <a:buNone/>
            </a:pPr>
            <a:r>
              <a:rPr lang="en-US" sz="1150" spc="15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배경 / 문제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3438144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손실의 대부분은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stockout(품절)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overflow(dock 초과)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발생 — rider 이탈과 rebalancing 트럭 비용.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event·교통장애·날씨 등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demand shock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기존 예측은 취약하고, LLM/뉴스 효과는 검증 없이 과장되기 쉬움.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</a:t>
            </a:r>
            <a:pPr algn="l" indent="0" marL="0">
              <a:buNone/>
            </a:pPr>
            <a:r>
              <a:rPr lang="en-US" sz="1150" spc="15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사업 포인트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4809744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운영비 절감 — 정확한 forecast → shortage/overflow·이동 비용↓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가치의 profit 환산 — LLM 비용을 제한 순가치를 측정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Decision Copilot — 근거 기반, 숫자 hallucination 0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trip planner — 대여·반납 station + 도보 안내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5508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DIFFERENTIATION</a:t>
            </a:r>
            <a:pPr algn="l" indent="0" marL="0">
              <a:buNone/>
            </a:pPr>
            <a:r>
              <a:rPr lang="en-US" sz="1150" spc="15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차별성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55080" y="3438144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추적성 — Article→Event→Zone→Feature→delta→action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correctness — available_at ≤ cutoff, leakage 방지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계약 — claim_status + ResultEnvelope, null도 정직 보고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경계 — 숫자는 typed tool에서만 (LLM은 구조화·설명만)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algn="l" indent="0" marL="0">
              <a:buNone/>
            </a:pPr>
            <a:r>
              <a:rPr lang="en-US" sz="11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실기여 — Neo4j event feature가 forecasting에 사용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55080" y="587959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9344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결과 라벨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run_id · artifact_id · mode · claim_status · freshness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9-value taxonomy — 무엇을 주장할 수 있는지 코드가 강제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ShockFlow AI — Citi Bike / NYC · H3 zone × local hour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1792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V2_COMPLETE · 31 artifacts · 3 gates PASS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미시 / MICRO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11480"/>
            <a:ext cx="91440" cy="91440"/>
          </a:xfrm>
          <a:prstGeom prst="ellipse">
            <a:avLst/>
          </a:prstGeom>
          <a:solidFill>
            <a:srgbClr val="F5A02B"/>
          </a:solidFill>
          <a:ln/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WORKFLOW별 기술 · 달성 지표 · 상세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기술 &amp; </a:t>
            </a:r>
            <a:pPr algn="l" indent="0" marL="0">
              <a:buNone/>
            </a:pPr>
            <a:r>
              <a:rPr lang="en-US" sz="2600" b="1" dirty="0">
                <a:solidFill>
                  <a:srgbClr val="F5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지표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2231136" cy="82296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435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0.4828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holdout WAPE · MASE 0.7996 (naive↑)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88920" y="1170432"/>
            <a:ext cx="2231136" cy="82296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2435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+$103k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926080" y="16276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net vs no-action · 9/9 부호+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1170432"/>
            <a:ext cx="2231136" cy="82296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12435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21.6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257800" y="16276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regret vs Oracle · best feasible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52360" y="1170432"/>
            <a:ext cx="2231136" cy="82296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0376" y="12435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589520" y="16276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halluc · pricing guardrail 위반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784080" y="1170432"/>
            <a:ext cx="2231136" cy="82296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12096" y="12435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921240" y="16276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· final audit V2_COMPLETE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2139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단계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96312" y="213969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기술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54112" y="2139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달성 지표 (artifact)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414016"/>
            <a:ext cx="11247120" cy="0"/>
          </a:xfrm>
          <a:prstGeom prst="line">
            <a:avLst/>
          </a:prstGeom>
          <a:noFill/>
          <a:ln w="12700">
            <a:solidFill>
              <a:srgbClr val="F5A0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6888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96312" y="2468880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CSV/ZIP · news JSONL · GBFS station_status, typed Pydantic contract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54112" y="24688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source 오프라인 재현 · schema hash / exclusion 기록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816352"/>
            <a:ext cx="11247120" cy="365760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8346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event 추출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96312" y="2834640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interface + deterministic mock + real Claude, evidence-span 강제·Pydantic 검증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54112" y="28346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clean NYC events · 근거 없는 event </a:t>
            </a:r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" y="32004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event graph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96312" y="3200400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Article/Event/Place/H3Zone/Station, parameterized Cypher, idempotent upsert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54112" y="320040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2,895 events / 6 zones · 재실행 시 node 증가 </a:t>
            </a:r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547872"/>
            <a:ext cx="11247120" cy="365760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56616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graph feature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96312" y="3566160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· distance decay · neighbor spillover — pure kernel, leakage-gated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54112" y="356616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14:01→14:00 leakage 회귀 통과 · deterministic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" y="393192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496312" y="3931920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HistGradientBoosting, rolling-origin H3 multi-holdout, LFV metric (+block-bootstrap CI)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54112" y="393192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WAPE 0.4828 · structured </a:t>
            </a:r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+2.69%</a:t>
            </a:r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news </a:t>
            </a:r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065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−$17,789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279392"/>
            <a:ext cx="11247120" cy="365760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29768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· Copilot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496312" y="4297680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typed-tool (숫자는 tool 결과만), RAGAS non-LLM retrieval + faithfulness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54112" y="42976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1.0 · halluc </a:t>
            </a:r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faith 1.0 · relevancy 0.985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" y="46634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</a:t>
            </a:r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· pricing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496312" y="4663440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Greedy→MILP→MPC→Oracle (profit/regret ledger), bounded pricing + guardrail + A/A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54112" y="46634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MPC 740 / regret 21.6 · 위반 </a:t>
            </a:r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AE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/576 zone-h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5138928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5230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E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정책 비교 </a:t>
            </a:r>
            <a:pPr algn="l" indent="0" marL="0"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ledger total_cost, 낮을수록 좋음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3504" y="54955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No-Action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417320" y="5522976"/>
            <a:ext cx="2331720" cy="128016"/>
          </a:xfrm>
          <a:prstGeom prst="roundRect">
            <a:avLst>
              <a:gd name="adj" fmla="val 21429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17320" y="5522976"/>
            <a:ext cx="2275193" cy="128016"/>
          </a:xfrm>
          <a:prstGeom prst="roundRect">
            <a:avLst>
              <a:gd name="adj" fmla="val 21429"/>
            </a:avLst>
          </a:prstGeom>
          <a:solidFill>
            <a:srgbClr val="7E8DA8"/>
          </a:solidFill>
          <a:ln w="12700">
            <a:solidFill>
              <a:srgbClr val="7E8D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22192" y="5495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1127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3504" y="56829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417320" y="5710428"/>
            <a:ext cx="2331720" cy="128016"/>
          </a:xfrm>
          <a:prstGeom prst="roundRect">
            <a:avLst>
              <a:gd name="adj" fmla="val 21429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17320" y="5710428"/>
            <a:ext cx="2331720" cy="128016"/>
          </a:xfrm>
          <a:prstGeom prst="roundRect">
            <a:avLst>
              <a:gd name="adj" fmla="val 21429"/>
            </a:avLst>
          </a:prstGeom>
          <a:solidFill>
            <a:srgbClr val="7E8DA8"/>
          </a:solidFill>
          <a:ln w="12700">
            <a:solidFill>
              <a:srgbClr val="7E8D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22192" y="56829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1155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03504" y="5870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417320" y="5897880"/>
            <a:ext cx="2331720" cy="128016"/>
          </a:xfrm>
          <a:prstGeom prst="roundRect">
            <a:avLst>
              <a:gd name="adj" fmla="val 21429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17320" y="5897880"/>
            <a:ext cx="2194441" cy="128016"/>
          </a:xfrm>
          <a:prstGeom prst="roundRect">
            <a:avLst>
              <a:gd name="adj" fmla="val 21429"/>
            </a:avLst>
          </a:prstGeom>
          <a:solidFill>
            <a:srgbClr val="7E8DA8"/>
          </a:solidFill>
          <a:ln w="12700">
            <a:solidFill>
              <a:srgbClr val="7E8D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22192" y="5870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1087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03504" y="60579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MPC ★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417320" y="6085332"/>
            <a:ext cx="2331720" cy="128016"/>
          </a:xfrm>
          <a:prstGeom prst="roundRect">
            <a:avLst>
              <a:gd name="adj" fmla="val 21429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17320" y="6085332"/>
            <a:ext cx="1493916" cy="128016"/>
          </a:xfrm>
          <a:prstGeom prst="roundRect">
            <a:avLst>
              <a:gd name="adj" fmla="val 21429"/>
            </a:avLst>
          </a:prstGeom>
          <a:solidFill>
            <a:srgbClr val="F5A02B"/>
          </a:solidFill>
          <a:ln w="12700">
            <a:solidFill>
              <a:srgbClr val="F5A02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22192" y="60579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03504" y="6245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417320" y="6272784"/>
            <a:ext cx="2331720" cy="128016"/>
          </a:xfrm>
          <a:prstGeom prst="roundRect">
            <a:avLst>
              <a:gd name="adj" fmla="val 21429"/>
            </a:avLst>
          </a:prstGeom>
          <a:solidFill>
            <a:srgbClr val="1B2740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17320" y="6272784"/>
            <a:ext cx="1451521" cy="128016"/>
          </a:xfrm>
          <a:prstGeom prst="roundRect">
            <a:avLst>
              <a:gd name="adj" fmla="val 21429"/>
            </a:avLst>
          </a:prstGeom>
          <a:solidFill>
            <a:srgbClr val="3AC6D4"/>
          </a:solidFill>
          <a:ln w="12700">
            <a:solidFill>
              <a:srgbClr val="3AC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22192" y="62453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EF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719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00600" y="5138928"/>
            <a:ext cx="6903720" cy="1298448"/>
          </a:xfrm>
          <a:prstGeom prst="roundRect">
            <a:avLst>
              <a:gd name="adj" fmla="val 4225"/>
            </a:avLst>
          </a:prstGeom>
          <a:solidFill>
            <a:srgbClr val="141E30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56048" y="5239512"/>
            <a:ext cx="6629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3A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측정 모델·제품 — B0–B4 · dual-encoder recsys+reranker · switchback 실험 · anomaly · FAISS (test WAPE 0.5161 vs B0 0.658; MILP=exact, shortage 146→78).</a:t>
            </a: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F5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AE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LLM net-value 검증 (V2-00…09) — H3 holdout · ledger · Rule vs LLM ablation · MPC · pricing · GraphRAG · monitoring. 완성=artifact 기반 → V2_COMPLETE.</a:t>
            </a: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endParaRPr lang="en-US" sz="8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9C8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 QUBO/QAOA · RL (PPO 202.9 / Q-learning 247.8, MPC 21.6 미달) — no advantage, product 차단.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57200" y="654710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8D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수치는 reports/v2/** committed artifact가 재현 · make v2-final → claim_matrix.json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2026-07-22T09:46:33Z</dcterms:created>
  <dcterms:modified xsi:type="dcterms:W3CDTF">2026-07-22T09:46:33Z</dcterms:modified>
</cp:coreProperties>
</file>