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0" y="274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12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" y="1554480"/>
            <a:ext cx="109728" cy="109728"/>
          </a:xfrm>
          <a:prstGeom prst="ellipse">
            <a:avLst/>
          </a:prstGeom>
          <a:solidFill>
            <a:srgbClr val="F5A0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813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CTO 보고 · TECHNICAL REVIEW · 2026-07-22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29768" y="18288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ShockFlow </a:t>
            </a:r>
            <a:pPr algn="l" indent="0" marL="0">
              <a:buNone/>
            </a:pPr>
            <a:r>
              <a:rPr lang="en-US" sz="5400" b="1" dirty="0">
                <a:solidFill>
                  <a:srgbClr val="F5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Event-aware 도시 모빌리티 수요 예측 &amp; 차량 rebalancing 의사결정 지원 — Citi Bike / New York City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154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E8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(측정 모델·추천·실험·이상탐지) + v2 (LLM net-business-value 검증, V2-00…V2-09) 전체 리뷰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4023360"/>
            <a:ext cx="2167677" cy="841248"/>
          </a:xfrm>
          <a:prstGeom prst="roundRect">
            <a:avLst>
              <a:gd name="adj" fmla="val 7609"/>
            </a:avLst>
          </a:prstGeom>
          <a:solidFill>
            <a:srgbClr val="141E30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4096512"/>
            <a:ext cx="19116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A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0.4828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94360" y="4480560"/>
            <a:ext cx="18933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7E8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holdout WAPE (MASE 0.7996)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34605" y="4023360"/>
            <a:ext cx="2167677" cy="841248"/>
          </a:xfrm>
          <a:prstGeom prst="roundRect">
            <a:avLst>
              <a:gd name="adj" fmla="val 7609"/>
            </a:avLst>
          </a:prstGeom>
          <a:solidFill>
            <a:srgbClr val="141E30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62621" y="4096512"/>
            <a:ext cx="19116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C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+$103k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871765" y="4480560"/>
            <a:ext cx="18933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7E8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 lift → profit (simulated)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012009" y="4023360"/>
            <a:ext cx="2167677" cy="841248"/>
          </a:xfrm>
          <a:prstGeom prst="roundRect">
            <a:avLst>
              <a:gd name="adj" fmla="val 7609"/>
            </a:avLst>
          </a:prstGeom>
          <a:solidFill>
            <a:srgbClr val="141E30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40025" y="4096512"/>
            <a:ext cx="19116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A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21.6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149169" y="4480560"/>
            <a:ext cx="18933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7E8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MPC regret vs Oracle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289414" y="4023360"/>
            <a:ext cx="2167677" cy="841248"/>
          </a:xfrm>
          <a:prstGeom prst="roundRect">
            <a:avLst>
              <a:gd name="adj" fmla="val 7609"/>
            </a:avLst>
          </a:prstGeom>
          <a:solidFill>
            <a:srgbClr val="141E30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17430" y="4096512"/>
            <a:ext cx="19116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AC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426574" y="4480560"/>
            <a:ext cx="18933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7E8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hallucination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566819" y="4023360"/>
            <a:ext cx="2167677" cy="841248"/>
          </a:xfrm>
          <a:prstGeom prst="roundRect">
            <a:avLst>
              <a:gd name="adj" fmla="val 7609"/>
            </a:avLst>
          </a:prstGeom>
          <a:solidFill>
            <a:srgbClr val="141E30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4835" y="4096512"/>
            <a:ext cx="19116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C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V2_COMPLETE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703979" y="4480560"/>
            <a:ext cx="18933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7E8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artifacts · 3 gates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5212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 범위: 기능 요소 · 사용 데이터 · 모델과 선택 이유 · 데이터 예시/해석 · 예측 판별과 정답지 · 고도화 로드맵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54710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ShockFlow AI — CTO Technical Review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943600" y="6547104"/>
            <a:ext cx="5788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3C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모든 수치 = committed artifact 재현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0" y="274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12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91440" cy="91440"/>
          </a:xfrm>
          <a:prstGeom prst="ellipse">
            <a:avLst/>
          </a:prstGeom>
          <a:solidFill>
            <a:srgbClr val="F5A02B"/>
          </a:solidFill>
          <a:ln/>
        </p:spPr>
      </p:sp>
      <p:sp>
        <p:nvSpPr>
          <p:cNvPr id="4" name="Text 2"/>
          <p:cNvSpPr/>
          <p:nvPr/>
        </p:nvSpPr>
        <p:spPr>
          <a:xfrm>
            <a:off x="621792" y="33832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 BUILT · WHAT IS PROVEN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한 장 요약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167677" cy="841248"/>
          </a:xfrm>
          <a:prstGeom prst="roundRect">
            <a:avLst>
              <a:gd name="adj" fmla="val 7609"/>
            </a:avLst>
          </a:prstGeom>
          <a:solidFill>
            <a:srgbClr val="141E30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444752"/>
            <a:ext cx="19116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C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18933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7E8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forecaster가 seasonal-naive를 이김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34605" y="1371600"/>
            <a:ext cx="2167677" cy="841248"/>
          </a:xfrm>
          <a:prstGeom prst="roundRect">
            <a:avLst>
              <a:gd name="adj" fmla="val 7609"/>
            </a:avLst>
          </a:prstGeom>
          <a:solidFill>
            <a:srgbClr val="141E30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62621" y="1444752"/>
            <a:ext cx="19116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C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+2.69%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871765" y="1828800"/>
            <a:ext cx="18933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7E8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event feed lift (measured)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012009" y="1371600"/>
            <a:ext cx="2167677" cy="841248"/>
          </a:xfrm>
          <a:prstGeom prst="roundRect">
            <a:avLst>
              <a:gd name="adj" fmla="val 7609"/>
            </a:avLst>
          </a:prstGeom>
          <a:solidFill>
            <a:srgbClr val="141E30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40025" y="1444752"/>
            <a:ext cx="19116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065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−$17,789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149169" y="1828800"/>
            <a:ext cx="18933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7E8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LLM-from-news 순가치 (null/negative)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289414" y="1371600"/>
            <a:ext cx="2167677" cy="841248"/>
          </a:xfrm>
          <a:prstGeom prst="roundRect">
            <a:avLst>
              <a:gd name="adj" fmla="val 7609"/>
            </a:avLst>
          </a:prstGeom>
          <a:solidFill>
            <a:srgbClr val="141E30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17430" y="1444752"/>
            <a:ext cx="19116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AC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+10.43%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426574" y="1828800"/>
            <a:ext cx="18933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7E8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ceiling (simulated, 조건 충족)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566819" y="1371600"/>
            <a:ext cx="2167677" cy="841248"/>
          </a:xfrm>
          <a:prstGeom prst="roundRect">
            <a:avLst>
              <a:gd name="adj" fmla="val 7609"/>
            </a:avLst>
          </a:prstGeom>
          <a:solidFill>
            <a:srgbClr val="141E30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4835" y="1444752"/>
            <a:ext cx="19116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9C8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703979" y="1828800"/>
            <a:ext cx="18933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7E8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RL·Quantum — 완성 조건 아님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" y="2468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5A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핵심 결론</a:t>
            </a:r>
            <a:pPr algn="l" indent="0" marL="0">
              <a:buNone/>
            </a:pPr>
            <a:r>
              <a:rPr lang="en-US" sz="1100" spc="1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KEY TAKEAWAYS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278892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buNone/>
            </a:pPr>
            <a:r>
              <a:rPr lang="en-US" sz="12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측정된 승리: </a:t>
            </a:r>
            <a:pPr algn="l" indent="0" marL="0">
              <a:buNone/>
            </a:pPr>
            <a:r>
              <a:rPr lang="en-US" sz="12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promoted 모델이 naive 대비 개선, structured event feed는 +2.69% measured lift.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5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buNone/>
            </a:pPr>
            <a:r>
              <a:rPr lang="en-US" sz="12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정직한 null: </a:t>
            </a:r>
            <a:pPr algn="l" indent="0" marL="0">
              <a:buNone/>
            </a:pPr>
            <a:r>
              <a:rPr lang="en-US" sz="12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LLM-from-news feature는 예측을 개선하지 못함 — 원인까지 규명(source 조건 미충족).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5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buNone/>
            </a:pPr>
            <a:r>
              <a:rPr lang="en-US" sz="12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가치는 조건부: </a:t>
            </a:r>
            <a:pPr algn="l" indent="0" marL="0">
              <a:buNone/>
            </a:pPr>
            <a:r>
              <a:rPr lang="en-US" sz="12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ceiling이 방법의 유효성을 입증 → 한계는 데이터 source.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5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buNone/>
            </a:pPr>
            <a:r>
              <a:rPr lang="en-US" sz="12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의사결정: </a:t>
            </a:r>
            <a:pPr algn="l" indent="0" marL="0">
              <a:buNone/>
            </a:pPr>
            <a:r>
              <a:rPr lang="en-US" sz="12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MPC가 best feasible policy, pricing guardrail 위반 0, Copilot hallucination 0.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55080" y="2468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5A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CTO 관점 함의</a:t>
            </a:r>
            <a:pPr algn="l" indent="0" marL="0">
              <a:buNone/>
            </a:pPr>
            <a:r>
              <a:rPr lang="en-US" sz="1100" spc="1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 WHAT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55080" y="2788920"/>
            <a:ext cx="5349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buNone/>
            </a:pPr>
            <a:r>
              <a:rPr lang="en-US" sz="12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투자 = 예측 정확도로 회수되지 않음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3A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buNone/>
            </a:pPr>
            <a:r>
              <a:rPr lang="en-US" sz="12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LLM의 실측 가치는 event structuring·routing·grounded explanation(Copilot)에 있음.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3A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buNone/>
            </a:pPr>
            <a:r>
              <a:rPr lang="en-US" sz="12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 이득의 실체는 structured feed(허가·이벤트) — 뉴스가 아니라 구조화된 signal.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3A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buNone/>
            </a:pPr>
            <a:r>
              <a:rPr lang="en-US" sz="12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투자처: event geocoding → H3-grain 검증, forward-looking dense source 확대.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3A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buNone/>
            </a:pPr>
            <a:r>
              <a:rPr lang="en-US" sz="12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숫자는 artifact로 추적 — 과장·조작 없음(claim_status 강제).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4710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요약은 reports/v2/final/claim_matrix.json 기준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943600" y="6547104"/>
            <a:ext cx="5788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3C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measured / simulated / research 구분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0" y="274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12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91440" cy="91440"/>
          </a:xfrm>
          <a:prstGeom prst="ellipse">
            <a:avLst/>
          </a:prstGeom>
          <a:solidFill>
            <a:srgbClr val="F5A02B"/>
          </a:solidFill>
          <a:ln/>
        </p:spPr>
      </p:sp>
      <p:sp>
        <p:nvSpPr>
          <p:cNvPr id="4" name="Text 2"/>
          <p:cNvSpPr/>
          <p:nvPr/>
        </p:nvSpPr>
        <p:spPr>
          <a:xfrm>
            <a:off x="621792" y="33832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FUNCTIONAL COMPONENTS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기능별 요소 — 시스템 구성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95880" cy="1965960"/>
          </a:xfrm>
          <a:prstGeom prst="roundRect">
            <a:avLst>
              <a:gd name="adj" fmla="val 3256"/>
            </a:avLst>
          </a:prstGeom>
          <a:solidFill>
            <a:srgbClr val="141E30"/>
          </a:solidFill>
          <a:ln w="12700">
            <a:solidFill>
              <a:srgbClr val="3AC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63624"/>
            <a:ext cx="242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Data Collection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3504" y="2167128"/>
            <a:ext cx="2421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 Bike trip · news · GBFS 재고 · 허가 이벤트 수집, typed contract·배제 사유 기록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17672" y="1417320"/>
            <a:ext cx="2695880" cy="1965960"/>
          </a:xfrm>
          <a:prstGeom prst="roundRect">
            <a:avLst>
              <a:gd name="adj" fmla="val 3256"/>
            </a:avLst>
          </a:prstGeom>
          <a:solidFill>
            <a:srgbClr val="141E30"/>
          </a:solidFill>
          <a:ln w="12700">
            <a:solidFill>
              <a:srgbClr val="3AC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63976" y="1563624"/>
            <a:ext cx="242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LLM Event Extraction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63976" y="2167128"/>
            <a:ext cx="2421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→ event(type·location·time·effect·severity·evidence), Pydantic 검증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78144" y="1417320"/>
            <a:ext cx="2695880" cy="1965960"/>
          </a:xfrm>
          <a:prstGeom prst="roundRect">
            <a:avLst>
              <a:gd name="adj" fmla="val 3256"/>
            </a:avLst>
          </a:prstGeom>
          <a:solidFill>
            <a:srgbClr val="141E30"/>
          </a:solidFill>
          <a:ln w="12700">
            <a:solidFill>
              <a:srgbClr val="3AC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24448" y="1563624"/>
            <a:ext cx="242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Neo4j Event Graph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24448" y="2167128"/>
            <a:ext cx="2421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Article/Event/Zone/Station node, idempotent upsert, provenance 보존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038615" y="1417320"/>
            <a:ext cx="2695880" cy="1965960"/>
          </a:xfrm>
          <a:prstGeom prst="roundRect">
            <a:avLst>
              <a:gd name="adj" fmla="val 3256"/>
            </a:avLst>
          </a:prstGeom>
          <a:solidFill>
            <a:srgbClr val="141E30"/>
          </a:solidFill>
          <a:ln w="12700">
            <a:solidFill>
              <a:srgbClr val="F5A0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84919" y="1563624"/>
            <a:ext cx="242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As-of Feature Store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84919" y="2167128"/>
            <a:ext cx="2421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half-life·distance decay·spillover → numeric feature, leakage-gated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2695880" cy="1965960"/>
          </a:xfrm>
          <a:prstGeom prst="roundRect">
            <a:avLst>
              <a:gd name="adj" fmla="val 3256"/>
            </a:avLst>
          </a:prstGeom>
          <a:solidFill>
            <a:srgbClr val="141E30"/>
          </a:solidFill>
          <a:ln w="12700">
            <a:solidFill>
              <a:srgbClr val="F5A0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" y="3849624"/>
            <a:ext cx="242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Forecasting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3504" y="4453128"/>
            <a:ext cx="2421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zone×hour 수요 예측(HistGB), ablation·LFV metric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17672" y="3703320"/>
            <a:ext cx="2695880" cy="1965960"/>
          </a:xfrm>
          <a:prstGeom prst="roundRect">
            <a:avLst>
              <a:gd name="adj" fmla="val 3256"/>
            </a:avLst>
          </a:prstGeom>
          <a:solidFill>
            <a:srgbClr val="141E30"/>
          </a:solidFill>
          <a:ln w="12700">
            <a:solidFill>
              <a:srgbClr val="F5A0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63976" y="3849624"/>
            <a:ext cx="242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Explanation · Copilot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63976" y="4453128"/>
            <a:ext cx="2421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Article→Event→Zone→Feature→delta trace, GraphRAG typed-tool 질의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78144" y="3703320"/>
            <a:ext cx="2695880" cy="1965960"/>
          </a:xfrm>
          <a:prstGeom prst="roundRect">
            <a:avLst>
              <a:gd name="adj" fmla="val 3256"/>
            </a:avLst>
          </a:prstGeom>
          <a:solidFill>
            <a:srgbClr val="141E30"/>
          </a:solidFill>
          <a:ln w="12700">
            <a:solidFill>
              <a:srgbClr val="43C0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24448" y="3849624"/>
            <a:ext cx="242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Rebalancing · Pricing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24448" y="4453128"/>
            <a:ext cx="2421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Greedy/MILP/MPC/Oracle + profit/regret ledger, bounded pricing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038615" y="3703320"/>
            <a:ext cx="2695880" cy="1965960"/>
          </a:xfrm>
          <a:prstGeom prst="roundRect">
            <a:avLst>
              <a:gd name="adj" fmla="val 3256"/>
            </a:avLst>
          </a:prstGeom>
          <a:solidFill>
            <a:srgbClr val="141E30"/>
          </a:solidFill>
          <a:ln w="12700">
            <a:solidFill>
              <a:srgbClr val="43C0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84919" y="3849624"/>
            <a:ext cx="242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Monitoring · Labels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84919" y="4453128"/>
            <a:ext cx="2421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manifest·freshness, delayed-label loop(leakage-safe)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흐름: 01→02→03→04→05→(06 설명)→07 실행 · 08은 전 구간 상시 모니터링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654710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각 요소는 mode(demo/replay/live/research)를 명시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0" y="274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12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91440" cy="91440"/>
          </a:xfrm>
          <a:prstGeom prst="ellipse">
            <a:avLst/>
          </a:prstGeom>
          <a:solidFill>
            <a:srgbClr val="F5A02B"/>
          </a:solidFill>
          <a:ln/>
        </p:spPr>
      </p:sp>
      <p:sp>
        <p:nvSpPr>
          <p:cNvPr id="4" name="Text 2"/>
          <p:cNvSpPr/>
          <p:nvPr/>
        </p:nvSpPr>
        <p:spPr>
          <a:xfrm>
            <a:off x="621792" y="33832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SOURCES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 데이터 — source · 규모 · 역할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4173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999232" y="14173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grain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828032" y="14173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규모(측정)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022592" y="14173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역할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131552" y="1417320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11274552" cy="0"/>
          </a:xfrm>
          <a:prstGeom prst="line">
            <a:avLst/>
          </a:prstGeom>
          <a:noFill/>
          <a:ln w="12700">
            <a:solidFill>
              <a:srgbClr val="F5A0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746504"/>
            <a:ext cx="23408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 Bike Trip History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99232" y="1746504"/>
            <a:ext cx="17007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event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28032" y="1746504"/>
            <a:ext cx="20665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AE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JC 30,947 rows·139 zone / NYC ~19.9M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22592" y="1746504"/>
            <a:ext cx="2980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수요 label의 원천(집계 전)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131552" y="1746504"/>
            <a:ext cx="15453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331720"/>
            <a:ext cx="11274552" cy="603504"/>
          </a:xfrm>
          <a:prstGeom prst="rect">
            <a:avLst/>
          </a:prstGeom>
          <a:solidFill>
            <a:srgbClr val="141E30"/>
          </a:solidFill>
          <a:ln w="12700">
            <a:solidFill>
              <a:srgbClr val="141E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350008"/>
            <a:ext cx="23408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fixture (JSONL)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99232" y="2350008"/>
            <a:ext cx="17007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28032" y="2350008"/>
            <a:ext cx="20665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AE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clean NYC events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22592" y="2350008"/>
            <a:ext cx="2980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event 추출 입력(replay)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131552" y="2350008"/>
            <a:ext cx="15453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demo/replay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0352" y="2953512"/>
            <a:ext cx="23408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GBFS station_status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99232" y="2953512"/>
            <a:ext cx="17007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station·시각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28032" y="2953512"/>
            <a:ext cx="20665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AE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실시간 재고 snapshot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022592" y="2953512"/>
            <a:ext cx="2980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재고·rebalancing 입력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131552" y="2953512"/>
            <a:ext cx="15453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demo/live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538728"/>
            <a:ext cx="11274552" cy="603504"/>
          </a:xfrm>
          <a:prstGeom prst="rect">
            <a:avLst/>
          </a:prstGeom>
          <a:solidFill>
            <a:srgbClr val="141E30"/>
          </a:solidFill>
          <a:ln w="12700">
            <a:solidFill>
              <a:srgbClr val="141E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3557016"/>
            <a:ext cx="23408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Permitted Events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999232" y="3557016"/>
            <a:ext cx="17007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borough·기간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28032" y="3557016"/>
            <a:ext cx="20665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AE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63,070 events (dense)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022592" y="3557016"/>
            <a:ext cx="2980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event feed(A1)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131552" y="3557016"/>
            <a:ext cx="15453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0352" y="4160520"/>
            <a:ext cx="23408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7E8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(optional)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999232" y="4160520"/>
            <a:ext cx="17007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시각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28032" y="4160520"/>
            <a:ext cx="20665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MVP 제외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022592" y="4160520"/>
            <a:ext cx="2980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확장용(critical path 아님)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131552" y="4160520"/>
            <a:ext cx="15453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4892040"/>
            <a:ext cx="11277295" cy="1234440"/>
          </a:xfrm>
          <a:prstGeom prst="roundRect">
            <a:avLst>
              <a:gd name="adj" fmla="val 5185"/>
            </a:avLst>
          </a:prstGeom>
          <a:solidFill>
            <a:srgbClr val="141E30"/>
          </a:solidFill>
          <a:ln w="12700">
            <a:solidFill>
              <a:srgbClr val="F5A02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5010912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5A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해석  </a:t>
            </a:r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 label은 trip을 H3 zone×local hour로 집계해 만든 departures/arrivals/net_flow입니다. 재고(GBFS) 차이는 수요 label로 쓰지 않습니다(금지). 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'대용량'은 permit feed(63,070) — news(≈23)와 density가 근본적으로 다르며, 이 격차가 뒤(LLM value)의 핵심 원인입니다. 큰 trip 데이터(3GB)는 git 미포함, 측정 결과만 커밋.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57200" y="654710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 Mode는 API 키 없이 오프라인 동작 · 라이브 collector는 기본 off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0" y="274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12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91440" cy="91440"/>
          </a:xfrm>
          <a:prstGeom prst="ellipse">
            <a:avLst/>
          </a:prstGeom>
          <a:solidFill>
            <a:srgbClr val="F5A02B"/>
          </a:solidFill>
          <a:ln/>
        </p:spPr>
      </p:sp>
      <p:sp>
        <p:nvSpPr>
          <p:cNvPr id="4" name="Text 2"/>
          <p:cNvSpPr/>
          <p:nvPr/>
        </p:nvSpPr>
        <p:spPr>
          <a:xfrm>
            <a:off x="621792" y="33832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EXAMPLES (fixtures)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예시 — 실제 fixture 레코드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657600" cy="2286000"/>
          </a:xfrm>
          <a:prstGeom prst="roundRect">
            <a:avLst>
              <a:gd name="adj" fmla="val 2800"/>
            </a:avLst>
          </a:prstGeom>
          <a:solidFill>
            <a:srgbClr val="141E30"/>
          </a:solidFill>
          <a:ln w="12700">
            <a:solidFill>
              <a:srgbClr val="3AC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490472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3AC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 TRIP (citibike_sample.csv)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85216" y="1728216"/>
            <a:ext cx="3419856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20" dirty="0">
                <a:solidFill>
                  <a:srgbClr val="EEF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started_at : 2026-07-12 13:05</a:t>
            </a:r>
            <a:endParaRPr lang="en-US" sz="82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820" dirty="0">
                <a:solidFill>
                  <a:srgbClr val="AE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ended_at   : 2026-07-12 13:17</a:t>
            </a:r>
            <a:endParaRPr lang="en-US" sz="82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820" dirty="0">
                <a:solidFill>
                  <a:srgbClr val="AE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: HB101 Grove St PATH</a:t>
            </a:r>
            <a:endParaRPr lang="en-US" sz="82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820" dirty="0">
                <a:solidFill>
                  <a:srgbClr val="AE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  : HB102 Hoboken Term.</a:t>
            </a:r>
            <a:endParaRPr lang="en-US" sz="82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820" dirty="0">
                <a:solidFill>
                  <a:srgbClr val="AE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lat/lng: 40.7196,-74.0431</a:t>
            </a:r>
            <a:endParaRPr lang="en-US" sz="82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820" dirty="0">
                <a:solidFill>
                  <a:srgbClr val="AE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member_casual : member</a:t>
            </a:r>
            <a:endParaRPr lang="en-US" sz="82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820" dirty="0">
                <a:solidFill>
                  <a:srgbClr val="AE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집계 시 13시 departures+1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4270248" y="1417320"/>
            <a:ext cx="3657600" cy="2286000"/>
          </a:xfrm>
          <a:prstGeom prst="roundRect">
            <a:avLst>
              <a:gd name="adj" fmla="val 2800"/>
            </a:avLst>
          </a:prstGeom>
          <a:solidFill>
            <a:srgbClr val="141E30"/>
          </a:solidFill>
          <a:ln w="12700">
            <a:solidFill>
              <a:srgbClr val="F5A0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98264" y="1490472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F5A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 NEWS → EVENT 추출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398264" y="1728216"/>
            <a:ext cx="3419856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20" dirty="0">
                <a:solidFill>
                  <a:srgbClr val="EEF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article a1  demo_wire</a:t>
            </a:r>
            <a:endParaRPr lang="en-US" sz="82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820" dirty="0">
                <a:solidFill>
                  <a:srgbClr val="AE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"PATH ... Grove St ..."</a:t>
            </a:r>
            <a:endParaRPr lang="en-US" sz="82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820" dirty="0">
                <a:solidFill>
                  <a:srgbClr val="AE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published: 2026-07-12T13:30-04</a:t>
            </a:r>
            <a:endParaRPr lang="en-US" sz="82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820" dirty="0">
                <a:solidFill>
                  <a:srgbClr val="AE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 LLM 추출 ─</a:t>
            </a:r>
            <a:endParaRPr lang="en-US" sz="82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820" dirty="0">
                <a:solidFill>
                  <a:srgbClr val="AE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 TRANSIT_DISRUPTION</a:t>
            </a:r>
            <a:endParaRPr lang="en-US" sz="82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820" dirty="0">
                <a:solidFill>
                  <a:srgbClr val="AE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effect_dir: + / severity: prior</a:t>
            </a:r>
            <a:endParaRPr lang="en-US" sz="82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820" dirty="0">
                <a:solidFill>
                  <a:srgbClr val="AE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evidence: ["Grove St ..."] (필수)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7626096" y="1417320"/>
            <a:ext cx="3657600" cy="2286000"/>
          </a:xfrm>
          <a:prstGeom prst="roundRect">
            <a:avLst>
              <a:gd name="adj" fmla="val 2800"/>
            </a:avLst>
          </a:prstGeom>
          <a:solidFill>
            <a:srgbClr val="141E30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54112" y="1490472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5B8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③ PERMITTED EVENT (NYC)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754112" y="1728216"/>
            <a:ext cx="3419856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20" dirty="0">
                <a:solidFill>
                  <a:srgbClr val="EEF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event_id: 888282</a:t>
            </a:r>
            <a:endParaRPr lang="en-US" sz="82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820" dirty="0">
                <a:solidFill>
                  <a:srgbClr val="AE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Lawn Closure ...</a:t>
            </a:r>
            <a:endParaRPr lang="en-US" sz="82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820" dirty="0">
                <a:solidFill>
                  <a:srgbClr val="AE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start: 2026-01-01T00:00</a:t>
            </a:r>
            <a:endParaRPr lang="en-US" sz="82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820" dirty="0">
                <a:solidFill>
                  <a:srgbClr val="AE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borough: Manhattan</a:t>
            </a:r>
            <a:endParaRPr lang="en-US" sz="82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820" dirty="0">
                <a:solidFill>
                  <a:srgbClr val="AE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 Special Event</a:t>
            </a:r>
            <a:endParaRPr lang="en-US" sz="82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820" dirty="0">
                <a:solidFill>
                  <a:srgbClr val="AE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location: Central Park</a:t>
            </a:r>
            <a:endParaRPr lang="en-US" sz="82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820" dirty="0">
                <a:solidFill>
                  <a:srgbClr val="AE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A1 structured feed(dense)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11277295" cy="2148840"/>
          </a:xfrm>
          <a:prstGeom prst="roundRect">
            <a:avLst>
              <a:gd name="adj" fmla="val 2979"/>
            </a:avLst>
          </a:prstGeom>
          <a:solidFill>
            <a:srgbClr val="141E30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4114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5A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as-of feature snapshot 예시</a:t>
            </a:r>
            <a:pPr algn="l" indent="0" marL="0">
              <a:buNone/>
            </a:pPr>
            <a:r>
              <a:rPr lang="en-US" sz="1100" spc="1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STEP 04 OUTPUT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4434840"/>
            <a:ext cx="1100297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zone_id · forecast_cutoff · feature_version 와 함께 numeric feature가 저장됩니다: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EF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event_count_6h_by_type · source_weighted_severity · distance_decayed_impact · time_to_event_start · neighbor_zone_impact · capacity_shock_exposure …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F5A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규칙  </a:t>
            </a:r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available_at = max(published_at, first_seen_at) ≤ forecast_cutoff 인 event만 반영 → 14:01 기사(article)는 14:00 예측에 기여 0 (leakage 회귀 테스트).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654710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예시는 curated fixture — live 데이터로 표시하지 않음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943600" y="6547104"/>
            <a:ext cx="5788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3C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provenance·evidence span 항상 보존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0" y="274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12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91440" cy="91440"/>
          </a:xfrm>
          <a:prstGeom prst="ellipse">
            <a:avLst/>
          </a:prstGeom>
          <a:solidFill>
            <a:srgbClr val="F5A02B"/>
          </a:solidFill>
          <a:ln/>
        </p:spPr>
      </p:sp>
      <p:sp>
        <p:nvSpPr>
          <p:cNvPr id="4" name="Text 2"/>
          <p:cNvSpPr/>
          <p:nvPr/>
        </p:nvSpPr>
        <p:spPr>
          <a:xfrm>
            <a:off x="621792" y="33832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INTERPRETATION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해석 — 수요의 성질과 함의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167677" cy="841248"/>
          </a:xfrm>
          <a:prstGeom prst="roundRect">
            <a:avLst>
              <a:gd name="adj" fmla="val 7609"/>
            </a:avLst>
          </a:prstGeom>
          <a:solidFill>
            <a:srgbClr val="141E30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444752"/>
            <a:ext cx="19116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A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2.7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18933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7E8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departures 평균(중앙값 2, 최대 87)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34605" y="1371600"/>
            <a:ext cx="2167677" cy="841248"/>
          </a:xfrm>
          <a:prstGeom prst="roundRect">
            <a:avLst>
              <a:gd name="adj" fmla="val 7609"/>
            </a:avLst>
          </a:prstGeom>
          <a:solidFill>
            <a:srgbClr val="141E30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62621" y="1444752"/>
            <a:ext cx="19116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A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20.2%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871765" y="1828800"/>
            <a:ext cx="18933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7E8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0인 시간 비중 (0-inflated)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012009" y="1371600"/>
            <a:ext cx="2167677" cy="841248"/>
          </a:xfrm>
          <a:prstGeom prst="roundRect">
            <a:avLst>
              <a:gd name="adj" fmla="val 7609"/>
            </a:avLst>
          </a:prstGeom>
          <a:solidFill>
            <a:srgbClr val="141E30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40025" y="1444752"/>
            <a:ext cx="19116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A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149169" y="1828800"/>
            <a:ext cx="18933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7E8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값 ≤ 2 인 시간 (sparse count)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289414" y="1371600"/>
            <a:ext cx="2167677" cy="841248"/>
          </a:xfrm>
          <a:prstGeom prst="roundRect">
            <a:avLst>
              <a:gd name="adj" fmla="val 7609"/>
            </a:avLst>
          </a:prstGeom>
          <a:solidFill>
            <a:srgbClr val="141E30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17430" y="1444752"/>
            <a:ext cx="19116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AC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0~12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426574" y="1828800"/>
            <a:ext cx="18933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7E8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zone별 평균 규모 편차(극단)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566819" y="1371600"/>
            <a:ext cx="2167677" cy="841248"/>
          </a:xfrm>
          <a:prstGeom prst="roundRect">
            <a:avLst>
              <a:gd name="adj" fmla="val 7609"/>
            </a:avLst>
          </a:prstGeom>
          <a:solidFill>
            <a:srgbClr val="141E30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4835" y="1444752"/>
            <a:ext cx="19116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AC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168h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703979" y="1828800"/>
            <a:ext cx="18933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7E8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강한 주간 seasonality lag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" y="2468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5A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관찰</a:t>
            </a:r>
            <a:pPr algn="l" indent="0" marL="0">
              <a:buNone/>
            </a:pPr>
            <a:r>
              <a:rPr lang="en-US" sz="1100" spc="1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WHAT THE DATA SAYS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2788920"/>
            <a:ext cx="5577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buNone/>
            </a:pPr>
            <a:r>
              <a:rPr lang="en-US" sz="12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간헐적 count 수요 — 0이 많고 heavy-tail, 큰 값이 드묾.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5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buNone/>
            </a:pPr>
            <a:r>
              <a:rPr lang="en-US" sz="12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규모가 0~12로 제각각 → scale-free 지표 필수.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5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buNone/>
            </a:pPr>
            <a:r>
              <a:rPr lang="en-US" sz="12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단기 지속성(직전 시간)이 가장 강하고, 주간(168h)·일간(24h) 순.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5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buNone/>
            </a:pPr>
            <a:r>
              <a:rPr lang="en-US" sz="12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평일/주말 차이는 총량보다 timing(저녁 러시)에서 옴.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55080" y="2468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5A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설계에 준 함의</a:t>
            </a:r>
            <a:pPr algn="l" indent="0" marL="0">
              <a:buNone/>
            </a:pPr>
            <a:r>
              <a:rPr lang="en-US" sz="1100" spc="1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DESIGN IMPLICATIONS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55080" y="2788920"/>
            <a:ext cx="5349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buNone/>
            </a:pPr>
            <a:r>
              <a:rPr lang="en-US" sz="12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지표: </a:t>
            </a:r>
            <a:pPr algn="l" indent="0" marL="0">
              <a:buNone/>
            </a:pPr>
            <a:r>
              <a:rPr lang="en-US" sz="12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폭발 → WAPE(합산 정규화)+MASE(naive 대비)+OCS(비대칭 비용).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3A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buNone/>
            </a:pPr>
            <a:r>
              <a:rPr lang="en-US" sz="12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모델: </a:t>
            </a:r>
            <a:pPr algn="l" indent="0" marL="0">
              <a:buNone/>
            </a:pPr>
            <a:r>
              <a:rPr lang="en-US" sz="12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lag/rolling/calendar tabular feature → tree 계열이 적합, GNN 선행 불필요.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3A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buNone/>
            </a:pPr>
            <a:r>
              <a:rPr lang="en-US" sz="12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leakage: </a:t>
            </a:r>
            <a:pPr algn="l" indent="0" marL="0">
              <a:buNone/>
            </a:pPr>
            <a:r>
              <a:rPr lang="en-US" sz="12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창은 shift 후 집계, 현재값이 자기 lag에 못 들어감.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3A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buNone/>
            </a:pPr>
            <a:r>
              <a:rPr lang="en-US" sz="12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event: </a:t>
            </a:r>
            <a:pPr algn="l" indent="0" marL="0">
              <a:buNone/>
            </a:pPr>
            <a:r>
              <a:rPr lang="en-US" sz="12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sparse+coincident면 신호가 약함 → source density·timing이 관건.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4710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출처: EDA + reports/phase06_results.json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0" y="274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12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91440" cy="91440"/>
          </a:xfrm>
          <a:prstGeom prst="ellipse">
            <a:avLst/>
          </a:prstGeom>
          <a:solidFill>
            <a:srgbClr val="F5A02B"/>
          </a:solidFill>
          <a:ln/>
        </p:spPr>
      </p:sp>
      <p:sp>
        <p:nvSpPr>
          <p:cNvPr id="4" name="Text 2"/>
          <p:cNvSpPr/>
          <p:nvPr/>
        </p:nvSpPr>
        <p:spPr>
          <a:xfrm>
            <a:off x="621792" y="33832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 &amp; RATIONALE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&amp; 사용 이유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모델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364992" y="14173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역할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45552" y="1417320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선택 이유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11274552" cy="0"/>
          </a:xfrm>
          <a:prstGeom prst="line">
            <a:avLst/>
          </a:prstGeom>
          <a:noFill/>
          <a:ln w="12700">
            <a:solidFill>
              <a:srgbClr val="F5A0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746504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 Seasonal-Naive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64992" y="1746504"/>
            <a:ext cx="4352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지난주 같은 시각(168h)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845552" y="1746504"/>
            <a:ext cx="3831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정직성 바닥·MASE 분모. 이걸 못 이기면 무의미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295144"/>
            <a:ext cx="11274552" cy="566928"/>
          </a:xfrm>
          <a:prstGeom prst="rect">
            <a:avLst/>
          </a:prstGeom>
          <a:solidFill>
            <a:srgbClr val="141E30"/>
          </a:solidFill>
          <a:ln w="12700">
            <a:solidFill>
              <a:srgbClr val="141E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313432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F5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HistGradientBoosting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64992" y="2313432"/>
            <a:ext cx="4352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promoted 예측 모델(전 zone 공통)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845552" y="2313432"/>
            <a:ext cx="3831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count·tabular lag에 강함, 빠르고 robust, feature 지배적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0352" y="288036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/ ExtraTrees 등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64992" y="2880360"/>
            <a:ext cx="4352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 후보 zoo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845552" y="2880360"/>
            <a:ext cx="3831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CV로 공정 선택 — 알고리즘보다 feature가 성능 좌우 확인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429000"/>
            <a:ext cx="11274552" cy="566928"/>
          </a:xfrm>
          <a:prstGeom prst="rect">
            <a:avLst/>
          </a:prstGeom>
          <a:solidFill>
            <a:srgbClr val="141E30"/>
          </a:solidFill>
          <a:ln w="12700">
            <a:solidFill>
              <a:srgbClr val="141E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447288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9C8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(Claude/mock)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64992" y="3447288"/>
            <a:ext cx="4352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추출·routing·설명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845552" y="3447288"/>
            <a:ext cx="3831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 예측 X — 비정형→구조화가 강점, typed-tool로 grounding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0352" y="4014216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43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MILP / MPC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64992" y="4014216"/>
            <a:ext cx="4352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rebalancing 최적화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845552" y="4014216"/>
            <a:ext cx="3831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정수·capacity 제약 정확 최적, MPC는 forecast로 look-ahead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562856"/>
            <a:ext cx="11274552" cy="566928"/>
          </a:xfrm>
          <a:prstGeom prst="rect">
            <a:avLst/>
          </a:prstGeom>
          <a:solidFill>
            <a:srgbClr val="141E30"/>
          </a:solidFill>
          <a:ln w="12700">
            <a:solidFill>
              <a:srgbClr val="141E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4581144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7E8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/ Transformer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64992" y="4581144"/>
            <a:ext cx="4352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(보류)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845552" y="4581144"/>
            <a:ext cx="3831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ablation·leakage 통과 전 선행 금지(§11.1) — 아직 근거 없음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5074920"/>
            <a:ext cx="11277295" cy="1051560"/>
          </a:xfrm>
          <a:prstGeom prst="roundRect">
            <a:avLst>
              <a:gd name="adj" fmla="val 6087"/>
            </a:avLst>
          </a:prstGeom>
          <a:solidFill>
            <a:srgbClr val="141E30"/>
          </a:solidFill>
          <a:ln w="12700">
            <a:solidFill>
              <a:srgbClr val="9C8B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5212080"/>
            <a:ext cx="11002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9C8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왜 LLM이 숫자를 만들지 않나  </a:t>
            </a:r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LLM은 hallucination 위험이 있어 demand·price·profit을 직접 계산하지 않습니다. 대신 event를 구조화(evidence 필수)하고, Copilot 답변의 모든 숫자는 typed tool 결과에서만 나옵니다 — 근거 없는 숫자는 reject. 이것이 신뢰성과 감사가능성을 동시에 보장합니다.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654710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구현 순서: B0 → tree baseline → event-aware → (검증 후) 고급 모델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0" y="274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12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91440" cy="91440"/>
          </a:xfrm>
          <a:prstGeom prst="ellipse">
            <a:avLst/>
          </a:prstGeom>
          <a:solidFill>
            <a:srgbClr val="F5A02B"/>
          </a:solidFill>
          <a:ln/>
        </p:spPr>
      </p:sp>
      <p:sp>
        <p:nvSpPr>
          <p:cNvPr id="4" name="Text 2"/>
          <p:cNvSpPr/>
          <p:nvPr/>
        </p:nvSpPr>
        <p:spPr>
          <a:xfrm>
            <a:off x="621792" y="33832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FORECASTS ARE JUDGED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수요예측을 어떻게 판별했나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5A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평가 프로토콜</a:t>
            </a:r>
            <a:pPr algn="l" indent="0" marL="0">
              <a:buNone/>
            </a:pPr>
            <a:r>
              <a:rPr lang="en-US" sz="1100" spc="1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PROTOCOL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5577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buNone/>
            </a:pPr>
            <a:r>
              <a:rPr lang="en-US" sz="115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grain: H3 zone × local hour, target = departures/arrivals/net_flow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5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buNone/>
            </a:pPr>
            <a:r>
              <a:rPr lang="en-US" sz="115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 rolling-origin / expanding-window (random K-fold 금지), seed 42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5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buNone/>
            </a:pPr>
            <a:r>
              <a:rPr lang="en-US" sz="115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event-window와 overall을 분리 보고, 모든 ablation은 동일 cutoff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5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buNone/>
            </a:pPr>
            <a:r>
              <a:rPr lang="en-US" sz="115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재현: make v2-holdout → h3_multiholdout.json (windows=3)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355080" y="13716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5A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지표 정의</a:t>
            </a:r>
            <a:pPr algn="l" indent="0" marL="0">
              <a:buNone/>
            </a:pPr>
            <a:r>
              <a:rPr lang="en-US" sz="1100" spc="1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METRICS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55080" y="1691640"/>
            <a:ext cx="5349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EEF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WAPE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Σ|y−ŷ| / Σ|y|  (scale-free, 0에 robust) — 대표값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EEF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MASE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MAE / naive-MAE  ( &lt;1 이면 naive를 이김 )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EEF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OCS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(c_short·부족 + c_over·과잉)/Σy  (비대칭 3:1)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EEF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peak-dir / bias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방향 적중·체계적 과소예측(품절 위험)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30352" y="39776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87952" y="3977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WAPE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108192" y="3977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028432" y="3977640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비고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4251960"/>
            <a:ext cx="11274552" cy="0"/>
          </a:xfrm>
          <a:prstGeom prst="line">
            <a:avLst/>
          </a:prstGeom>
          <a:noFill/>
          <a:ln w="12700">
            <a:solidFill>
              <a:srgbClr val="F5A0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4306824"/>
            <a:ext cx="3529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7E8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 Seasonal-Naive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87952" y="4306824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AE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0.6584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08192" y="4306824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AE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1.0125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28432" y="4306824"/>
            <a:ext cx="3648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정직성 바닥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745736"/>
            <a:ext cx="11274552" cy="457200"/>
          </a:xfrm>
          <a:prstGeom prst="rect">
            <a:avLst/>
          </a:prstGeom>
          <a:solidFill>
            <a:srgbClr val="141E30"/>
          </a:solidFill>
          <a:ln w="12700">
            <a:solidFill>
              <a:srgbClr val="141E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4764024"/>
            <a:ext cx="3529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F5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HistGradientBoosting (v2 promoted)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87952" y="4764024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F5A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0.4828±0.0030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08192" y="4764024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43C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0.7996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28432" y="4764024"/>
            <a:ext cx="3648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multi-holdout, naive를 이김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0352" y="5221224"/>
            <a:ext cx="3529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(v1 CV-선택)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87952" y="5221224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AE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0.5161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08192" y="5221224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AE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0.7936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28432" y="5221224"/>
            <a:ext cx="3648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JC June, 프로토콜대로 CV 선택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54710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판별 기준: MASE&lt;1(naive 우위) + rolling-origin 재현 + event-window 별도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943600" y="6547104"/>
            <a:ext cx="5788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3C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artifact: reports/v2/holdout/*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0" y="274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12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91440" cy="91440"/>
          </a:xfrm>
          <a:prstGeom prst="ellipse">
            <a:avLst/>
          </a:prstGeom>
          <a:solidFill>
            <a:srgbClr val="F5A02B"/>
          </a:solidFill>
          <a:ln/>
        </p:spPr>
      </p:sp>
      <p:sp>
        <p:nvSpPr>
          <p:cNvPr id="4" name="Text 2"/>
          <p:cNvSpPr/>
          <p:nvPr/>
        </p:nvSpPr>
        <p:spPr>
          <a:xfrm>
            <a:off x="621792" y="33832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THE GROUND TRUTH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정답지(ground truth)는 무엇인가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4173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무엇을 판별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56432" y="14173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정답지(label)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11312" y="1417320"/>
            <a:ext cx="3502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만드는 방법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11274552" cy="0"/>
          </a:xfrm>
          <a:prstGeom prst="line">
            <a:avLst/>
          </a:prstGeom>
          <a:noFill/>
          <a:ln w="12700">
            <a:solidFill>
              <a:srgbClr val="F5A0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746504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수요 예측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56432" y="1746504"/>
            <a:ext cx="4626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발생한 trip 수 (departures/arrivals/net_flow)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11312" y="1746504"/>
            <a:ext cx="3465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trip을 H3 zone×local hour로 집계 (America/New_York)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295144"/>
            <a:ext cx="11274552" cy="566928"/>
          </a:xfrm>
          <a:prstGeom prst="rect">
            <a:avLst/>
          </a:prstGeom>
          <a:solidFill>
            <a:srgbClr val="141E30"/>
          </a:solidFill>
          <a:ln w="12700">
            <a:solidFill>
              <a:srgbClr val="141E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313432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F5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event/LLM 가치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56432" y="2313432"/>
            <a:ext cx="4626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WAPE (LLM-active subset) + block-bootstrap CI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11312" y="2313432"/>
            <a:ext cx="3465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LFV metric — 동일 cutoff, active zone-hour만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0352" y="2880360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43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56432" y="2880360"/>
            <a:ext cx="4626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net (realized demand 사용, offline 상한)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11312" y="2880360"/>
            <a:ext cx="3465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regret = Oracle − policy (≥0 by construction)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429000"/>
            <a:ext cx="11274552" cy="566928"/>
          </a:xfrm>
          <a:prstGeom prst="rect">
            <a:avLst/>
          </a:prstGeom>
          <a:solidFill>
            <a:srgbClr val="141E30"/>
          </a:solidFill>
          <a:ln w="12700">
            <a:solidFill>
              <a:srgbClr val="141E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447288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43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56432" y="3447288"/>
            <a:ext cx="4626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위반 수 + A/A null (CI∋0)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11312" y="3447288"/>
            <a:ext cx="3465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규칙 위반 카운트 + negative control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0352" y="4014216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3A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56432" y="4014216"/>
            <a:ext cx="4626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Q&amp;A + typed-tool 값 + RAGAS faithfulness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11312" y="4014216"/>
            <a:ext cx="3465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질문셋 정답 + 답 숫자의 tool-근거 일치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892040"/>
            <a:ext cx="11277295" cy="1234440"/>
          </a:xfrm>
          <a:prstGeom prst="roundRect">
            <a:avLst>
              <a:gd name="adj" fmla="val 5185"/>
            </a:avLst>
          </a:prstGeom>
          <a:solidFill>
            <a:srgbClr val="141E30"/>
          </a:solidFill>
          <a:ln w="12700">
            <a:solidFill>
              <a:srgbClr val="F065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5010912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065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정답지 무결성 규칙  </a:t>
            </a:r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재고(inventory) snapshot 차이를 수요 label로 쓰지 않습니다(금지). ② label은 항상 forecast_cutoff 이후에 관측되는 것이어야 하고, event는 available_at ≤ cutoff 일 때만 feature화 → 미래 누수 차단. ③ delayed label이 도착해야 pending→measured로 확정(available_at &gt; cutoff면 leakage_rejected).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54710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실측 label은 아직 미수집 → 해당 항목은 blocked_data로 정직 표기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0" y="274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12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91440" cy="91440"/>
          </a:xfrm>
          <a:prstGeom prst="ellipse">
            <a:avLst/>
          </a:prstGeom>
          <a:solidFill>
            <a:srgbClr val="F5A02B"/>
          </a:solidFill>
          <a:ln/>
        </p:spPr>
      </p:sp>
      <p:sp>
        <p:nvSpPr>
          <p:cNvPr id="4" name="Text 2"/>
          <p:cNvSpPr/>
          <p:nvPr/>
        </p:nvSpPr>
        <p:spPr>
          <a:xfrm>
            <a:off x="621792" y="33832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VALUE VERDICT (V2-03)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질문 — LLM은 예측 가치를 더했나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3716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ablation arm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39312" y="13716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WAPE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50992" y="1371600"/>
            <a:ext cx="6062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판정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11274552" cy="0"/>
          </a:xfrm>
          <a:prstGeom prst="line">
            <a:avLst/>
          </a:prstGeom>
          <a:noFill/>
          <a:ln w="12700">
            <a:solidFill>
              <a:srgbClr val="F5A0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700784"/>
            <a:ext cx="2980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  demand + calendar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39312" y="1700784"/>
            <a:ext cx="1883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AE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0.0908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50992" y="1700784"/>
            <a:ext cx="6025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(event 없음)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11274552" cy="512064"/>
          </a:xfrm>
          <a:prstGeom prst="rect">
            <a:avLst/>
          </a:prstGeom>
          <a:solidFill>
            <a:srgbClr val="141E30"/>
          </a:solidFill>
          <a:ln w="12700">
            <a:solidFill>
              <a:srgbClr val="141E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212848"/>
            <a:ext cx="2980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43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 + structured 허가 feed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39312" y="2212848"/>
            <a:ext cx="1883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43C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0.0883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50992" y="2212848"/>
            <a:ext cx="6025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43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MEANINGFUL_POSITIVE +2.69% (active subset, CI&gt;0) — 도움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30352" y="2724912"/>
            <a:ext cx="2980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06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 + LLM-from-news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39312" y="2724912"/>
            <a:ext cx="1883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F065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0.0905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50992" y="2724912"/>
            <a:ext cx="6025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F06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negative_lift · net −$17,789 — news는 redundant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33375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5A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왜 news는 실패했나 (root cause)</a:t>
            </a:r>
            <a:pPr algn="l" indent="0" marL="0">
              <a:buNone/>
            </a:pPr>
            <a:r>
              <a:rPr lang="en-US" sz="1100" spc="1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PROVEN, NOT ASSUMED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657600"/>
            <a:ext cx="5577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buNone/>
            </a:pPr>
            <a:r>
              <a:rPr lang="en-US" sz="11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feature가 도우려면 source가 4조건 동시 충족: 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5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buNone/>
            </a:pPr>
            <a:r>
              <a:rPr lang="en-US" sz="1100" b="1" dirty="0">
                <a:solidFill>
                  <a:srgbClr val="F5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+ precise-time + precise-location + forward-looking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5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buNone/>
            </a:pPr>
            <a:r>
              <a:rPr lang="en-US" sz="11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news는 전부 미충족 (23건 중 forward-looking 2건).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5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buNone/>
            </a:pPr>
            <a:r>
              <a:rPr lang="en-US" sz="11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curve + quality ablation으로 '단순 데이터부족' 아님을 입증.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55080" y="3566160"/>
            <a:ext cx="5376672" cy="2514600"/>
          </a:xfrm>
          <a:prstGeom prst="roundRect">
            <a:avLst>
              <a:gd name="adj" fmla="val 2545"/>
            </a:avLst>
          </a:prstGeom>
          <a:solidFill>
            <a:srgbClr val="141E30"/>
          </a:solidFill>
          <a:ln w="12700">
            <a:solidFill>
              <a:srgbClr val="3AC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0528" y="3730752"/>
            <a:ext cx="50749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3A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그럼 방법이 틀렸나? 아니오.</a:t>
            </a:r>
            <a:endParaRPr lang="en-US" sz="1080" dirty="0"/>
          </a:p>
          <a:p>
            <a:pPr algn="l" indent="0" marL="0">
              <a:lnSpc>
                <a:spcPct val="105000"/>
              </a:lnSpc>
              <a:buNone/>
            </a:pPr>
            <a:endParaRPr lang="en-US" sz="108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EEF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synthetic ceiling</a:t>
            </a:r>
            <a:pPr algn="l"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(simulated): 4조건을 만족하는 event를 주입하면 LLM post-correction </a:t>
            </a:r>
            <a:pPr algn="l" indent="0" marL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43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+10.43%</a:t>
            </a:r>
            <a:pPr algn="l"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방법은 유효, 한계는 news라는 source.</a:t>
            </a:r>
            <a:endParaRPr lang="en-US" sz="1080" dirty="0"/>
          </a:p>
          <a:p>
            <a:pPr algn="l" indent="0" marL="0">
              <a:lnSpc>
                <a:spcPct val="105000"/>
              </a:lnSpc>
              <a:buNone/>
            </a:pPr>
            <a:endParaRPr lang="en-US" sz="108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F5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결론: </a:t>
            </a:r>
            <a:pPr algn="l"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 lift의 실체는 structured feed. LLM의 실측 가치는 Copilot(routing·grounding·설명)에 있음.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457200" y="654710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artifact: incremental_value_borough·density_curve·quality_ablation·synthetic_ceiling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943600" y="6547104"/>
            <a:ext cx="5788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3C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borough-hour grain · test 2026-05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0" y="274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12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91440" cy="91440"/>
          </a:xfrm>
          <a:prstGeom prst="ellipse">
            <a:avLst/>
          </a:prstGeom>
          <a:solidFill>
            <a:srgbClr val="F5A02B"/>
          </a:solidFill>
          <a:ln/>
        </p:spPr>
      </p:sp>
      <p:sp>
        <p:nvSpPr>
          <p:cNvPr id="4" name="Text 2"/>
          <p:cNvSpPr/>
          <p:nvPr/>
        </p:nvSpPr>
        <p:spPr>
          <a:xfrm>
            <a:off x="621792" y="33832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 LAYER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의사결정 레이어 — 예측을 행동으로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394960" cy="2468880"/>
          </a:xfrm>
          <a:prstGeom prst="roundRect">
            <a:avLst>
              <a:gd name="adj" fmla="val 2593"/>
            </a:avLst>
          </a:prstGeom>
          <a:solidFill>
            <a:srgbClr val="141E30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MPC 정책 비교 </a:t>
            </a:r>
            <a:pPr algn="l" indent="0" marL="0">
              <a:buNone/>
            </a:pPr>
            <a:r>
              <a:rPr lang="en-US" sz="900" dirty="0">
                <a:solidFill>
                  <a:srgbClr val="7E8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ledger total_cost (낮을수록 좋음)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9842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No-Action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74520" y="2011680"/>
            <a:ext cx="2743200" cy="182880"/>
          </a:xfrm>
          <a:prstGeom prst="roundRect">
            <a:avLst>
              <a:gd name="adj" fmla="val 15000"/>
            </a:avLst>
          </a:prstGeom>
          <a:solidFill>
            <a:srgbClr val="1B2740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74520" y="2011680"/>
            <a:ext cx="2676698" cy="182880"/>
          </a:xfrm>
          <a:prstGeom prst="roundRect">
            <a:avLst>
              <a:gd name="adj" fmla="val 15000"/>
            </a:avLst>
          </a:prstGeom>
          <a:solidFill>
            <a:srgbClr val="7E8DA8"/>
          </a:solidFill>
          <a:ln w="12700">
            <a:solidFill>
              <a:srgbClr val="7E8D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98424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EF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1127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23134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Greedy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74520" y="2340864"/>
            <a:ext cx="2743200" cy="182880"/>
          </a:xfrm>
          <a:prstGeom prst="roundRect">
            <a:avLst>
              <a:gd name="adj" fmla="val 15000"/>
            </a:avLst>
          </a:prstGeom>
          <a:solidFill>
            <a:srgbClr val="1B2740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74520" y="2340864"/>
            <a:ext cx="2743200" cy="182880"/>
          </a:xfrm>
          <a:prstGeom prst="roundRect">
            <a:avLst>
              <a:gd name="adj" fmla="val 15000"/>
            </a:avLst>
          </a:prstGeom>
          <a:solidFill>
            <a:srgbClr val="7E8DA8"/>
          </a:solidFill>
          <a:ln w="12700">
            <a:solidFill>
              <a:srgbClr val="7E8D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231343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EF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1155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264261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MILP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74520" y="2670048"/>
            <a:ext cx="2743200" cy="182880"/>
          </a:xfrm>
          <a:prstGeom prst="roundRect">
            <a:avLst>
              <a:gd name="adj" fmla="val 15000"/>
            </a:avLst>
          </a:prstGeom>
          <a:solidFill>
            <a:srgbClr val="1B2740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74520" y="2670048"/>
            <a:ext cx="2581696" cy="182880"/>
          </a:xfrm>
          <a:prstGeom prst="roundRect">
            <a:avLst>
              <a:gd name="adj" fmla="val 15000"/>
            </a:avLst>
          </a:prstGeom>
          <a:solidFill>
            <a:srgbClr val="7E8DA8"/>
          </a:solidFill>
          <a:ln w="12700">
            <a:solidFill>
              <a:srgbClr val="7E8D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64261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EF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1087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0080" y="29718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MPC ★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74520" y="2999232"/>
            <a:ext cx="2743200" cy="182880"/>
          </a:xfrm>
          <a:prstGeom prst="roundRect">
            <a:avLst>
              <a:gd name="adj" fmla="val 15000"/>
            </a:avLst>
          </a:prstGeom>
          <a:solidFill>
            <a:srgbClr val="1B2740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74520" y="2999232"/>
            <a:ext cx="1757548" cy="182880"/>
          </a:xfrm>
          <a:prstGeom prst="roundRect">
            <a:avLst>
              <a:gd name="adj" fmla="val 15000"/>
            </a:avLst>
          </a:prstGeom>
          <a:solidFill>
            <a:srgbClr val="F5A02B"/>
          </a:solidFill>
          <a:ln w="12700">
            <a:solidFill>
              <a:srgbClr val="F5A0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297180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EF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740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0080" y="330098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Oracle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874520" y="3328416"/>
            <a:ext cx="2743200" cy="182880"/>
          </a:xfrm>
          <a:prstGeom prst="roundRect">
            <a:avLst>
              <a:gd name="adj" fmla="val 15000"/>
            </a:avLst>
          </a:prstGeom>
          <a:solidFill>
            <a:srgbClr val="1B2740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74520" y="3328416"/>
            <a:ext cx="1707672" cy="182880"/>
          </a:xfrm>
          <a:prstGeom prst="roundRect">
            <a:avLst>
              <a:gd name="adj" fmla="val 15000"/>
            </a:avLst>
          </a:prstGeom>
          <a:solidFill>
            <a:srgbClr val="3AC6D4"/>
          </a:solidFill>
          <a:ln w="12700">
            <a:solidFill>
              <a:srgbClr val="3AC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33009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EF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719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35040" y="1417320"/>
            <a:ext cx="5696712" cy="1170432"/>
          </a:xfrm>
          <a:prstGeom prst="roundRect">
            <a:avLst>
              <a:gd name="adj" fmla="val 5469"/>
            </a:avLst>
          </a:prstGeom>
          <a:solidFill>
            <a:srgbClr val="141E30"/>
          </a:solidFill>
          <a:ln w="12700">
            <a:solidFill>
              <a:srgbClr val="43C0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99632" y="1536192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43C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Pricing (simulated)  </a:t>
            </a:r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7E8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surge + guardrail + A/A dry-run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576 zone-hour에서 위반 0 · budget 준수 · A/A CI∋0 (유효 null) · shadow quote만(실제 청구 없음)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35040" y="2715768"/>
            <a:ext cx="5696712" cy="1170432"/>
          </a:xfrm>
          <a:prstGeom prst="roundRect">
            <a:avLst>
              <a:gd name="adj" fmla="val 5469"/>
            </a:avLst>
          </a:prstGeom>
          <a:solidFill>
            <a:srgbClr val="141E30"/>
          </a:solidFill>
          <a:ln w="12700">
            <a:solidFill>
              <a:srgbClr val="3AC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99632" y="2834640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3AC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 Copilot (offline_benchmark)  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typed-tool routing 1.0 · hallucination 0 · RAGAS faithfulness 1.0 · answer_relevancy 0.985 · trip-plan faithfulness 1.0. 숫자는 tool 결과만, 근거 없으면 refuse.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114800"/>
            <a:ext cx="11277295" cy="2011680"/>
          </a:xfrm>
          <a:prstGeom prst="roundRect">
            <a:avLst>
              <a:gd name="adj" fmla="val 3182"/>
            </a:avLst>
          </a:prstGeom>
          <a:solidFill>
            <a:srgbClr val="141E30"/>
          </a:solidFill>
          <a:ln w="12700">
            <a:solidFill>
              <a:srgbClr val="F5A0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" y="4261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5A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해석 — 왜 MPC인가</a:t>
            </a:r>
            <a:pPr algn="l" indent="0" marL="0">
              <a:buNone/>
            </a:pPr>
            <a:r>
              <a:rPr lang="en-US" sz="1100" spc="1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1792" y="457200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buNone/>
            </a:pPr>
            <a:r>
              <a:rPr lang="en-US" sz="11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MPC가 regret 21.6 (Oracle의 ~3%)로 best feasible — forecast look-ahead가 핵심.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5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buNone/>
            </a:pPr>
            <a:r>
              <a:rPr lang="en-US" sz="11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Oracle은 realized demand를 쓰는 offline 상한 → 배포 불가, 비교 기준일 뿐.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5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buNone/>
            </a:pPr>
            <a:r>
              <a:rPr lang="en-US" sz="11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금액은 versioned assumption에 조건부(simulated), 단위 수량만 measured — 부호는 9/9 설정에서 안정.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54710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artifact: mpc/policy_comparison · pricing/* · copilot/*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0" y="274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12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91440" cy="91440"/>
          </a:xfrm>
          <a:prstGeom prst="ellipse">
            <a:avLst/>
          </a:prstGeom>
          <a:solidFill>
            <a:srgbClr val="F5A02B"/>
          </a:solidFill>
          <a:ln/>
        </p:spPr>
      </p:sp>
      <p:sp>
        <p:nvSpPr>
          <p:cNvPr id="4" name="Text 2"/>
          <p:cNvSpPr/>
          <p:nvPr/>
        </p:nvSpPr>
        <p:spPr>
          <a:xfrm>
            <a:off x="621792" y="33832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ADVANCEMENT ROADMAP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고도화 방법 — 다음 투자처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3716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" y="13716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과제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919472" y="13716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기대 효과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25712" y="1371600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우선순위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11274552" cy="0"/>
          </a:xfrm>
          <a:prstGeom prst="line">
            <a:avLst/>
          </a:prstGeom>
          <a:noFill/>
          <a:ln w="12700">
            <a:solidFill>
              <a:srgbClr val="F5A0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700784"/>
            <a:ext cx="420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80" dirty="0">
                <a:solidFill>
                  <a:srgbClr val="F5A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1078992" y="1700784"/>
            <a:ext cx="3712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8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geocoding → H3-grain graph 검증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4919472" y="1700784"/>
            <a:ext cx="4078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8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blocked_data(borough-tag) 해소 → graph 기여 공정 재측정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9125712" y="1700784"/>
            <a:ext cx="2551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80" b="1" dirty="0">
                <a:solidFill>
                  <a:srgbClr val="43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· 직접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457200" y="2212848"/>
            <a:ext cx="11274552" cy="530352"/>
          </a:xfrm>
          <a:prstGeom prst="rect">
            <a:avLst/>
          </a:prstGeom>
          <a:solidFill>
            <a:srgbClr val="141E30"/>
          </a:solidFill>
          <a:ln w="12700">
            <a:solidFill>
              <a:srgbClr val="141E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231136"/>
            <a:ext cx="420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80" dirty="0">
                <a:solidFill>
                  <a:srgbClr val="F5A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1078992" y="2231136"/>
            <a:ext cx="3712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8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forward-looking dense source 확대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4919472" y="2231136"/>
            <a:ext cx="4078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8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alert·venue schedule·permit → LLM value 4조건 충족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9125712" y="2231136"/>
            <a:ext cx="2551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80" b="1" dirty="0">
                <a:solidFill>
                  <a:srgbClr val="43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530352" y="2761488"/>
            <a:ext cx="420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80" dirty="0">
                <a:solidFill>
                  <a:srgbClr val="F5A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1078992" y="2761488"/>
            <a:ext cx="3712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8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intervals (p10/p50/p90)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4919472" y="2761488"/>
            <a:ext cx="4078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8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없음 → 재고 리스크·안전재고 의사결정 강화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9125712" y="2761488"/>
            <a:ext cx="2551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80" b="1" dirty="0">
                <a:solidFill>
                  <a:srgbClr val="F5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457200" y="3273552"/>
            <a:ext cx="11274552" cy="530352"/>
          </a:xfrm>
          <a:prstGeom prst="rect">
            <a:avLst/>
          </a:prstGeom>
          <a:solidFill>
            <a:srgbClr val="141E30"/>
          </a:solidFill>
          <a:ln w="12700">
            <a:solidFill>
              <a:srgbClr val="141E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3291840"/>
            <a:ext cx="420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80" dirty="0">
                <a:solidFill>
                  <a:srgbClr val="F5A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1078992" y="3291840"/>
            <a:ext cx="3712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8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/ GNN·temporal 모델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4919472" y="3291840"/>
            <a:ext cx="4078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8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ablation·leakage 통과 후 도입 — feature 지배 구조 넘어설 때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9125712" y="3291840"/>
            <a:ext cx="2551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80" b="1" dirty="0">
                <a:solidFill>
                  <a:srgbClr val="F5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· 조건부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530352" y="3822192"/>
            <a:ext cx="420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80" dirty="0">
                <a:solidFill>
                  <a:srgbClr val="F5A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1078992" y="3822192"/>
            <a:ext cx="3712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8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label 수집 + delayed-label 재학습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919472" y="3822192"/>
            <a:ext cx="4078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8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pending→measured 확정, drift 감지 (online bandit은 금지)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9125712" y="3822192"/>
            <a:ext cx="2551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80" b="1" dirty="0">
                <a:solidFill>
                  <a:srgbClr val="F5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457200" y="4334256"/>
            <a:ext cx="11274552" cy="530352"/>
          </a:xfrm>
          <a:prstGeom prst="rect">
            <a:avLst/>
          </a:prstGeom>
          <a:solidFill>
            <a:srgbClr val="141E30"/>
          </a:solidFill>
          <a:ln w="12700">
            <a:solidFill>
              <a:srgbClr val="141E3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4352544"/>
            <a:ext cx="420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80" dirty="0">
                <a:solidFill>
                  <a:srgbClr val="F5A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1078992" y="4352544"/>
            <a:ext cx="3712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80" b="1" dirty="0">
                <a:solidFill>
                  <a:srgbClr val="7E8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심화: RL · Quantum</a:t>
            </a:r>
            <a:endParaRPr lang="en-US" sz="980" dirty="0"/>
          </a:p>
        </p:txBody>
      </p:sp>
      <p:sp>
        <p:nvSpPr>
          <p:cNvPr id="36" name="Text 34"/>
          <p:cNvSpPr/>
          <p:nvPr/>
        </p:nvSpPr>
        <p:spPr>
          <a:xfrm>
            <a:off x="4919472" y="4352544"/>
            <a:ext cx="4078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8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policy·QUBO — 완성 조건 아님, product 격리 유지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9125712" y="4352544"/>
            <a:ext cx="2551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80" dirty="0">
                <a:solidFill>
                  <a:srgbClr val="7E8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· research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457200" y="5120640"/>
            <a:ext cx="11277295" cy="1005840"/>
          </a:xfrm>
          <a:prstGeom prst="roundRect">
            <a:avLst>
              <a:gd name="adj" fmla="val 6364"/>
            </a:avLst>
          </a:prstGeom>
          <a:solidFill>
            <a:srgbClr val="141E30"/>
          </a:solidFill>
          <a:ln w="12700">
            <a:solidFill>
              <a:srgbClr val="3AC6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5239512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3AC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한 줄 요약  </a:t>
            </a:r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큰 지렛대는 ‘더 똑똑한 모델’이 아니라 ‘조건을 만족하는 source’입니다 — geocoding으로 H3 graph를 열고, forward-looking dense feed를 확보하면 synthetic ceiling(+10.43%)에서 본 잠재 이득을 실측으로 전환할 수 있습니다.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654710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ShockFlow AI — CTO Technical Review · 끝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943600" y="6547104"/>
            <a:ext cx="5788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3C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measured · simulated · blocked · research 구분 유지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2026-07-22T11:19:35Z</dcterms:created>
  <dcterms:modified xsi:type="dcterms:W3CDTF">2026-07-22T11:19:35Z</dcterms:modified>
</cp:coreProperties>
</file>